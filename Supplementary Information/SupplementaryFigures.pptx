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F9B01399.xml" ContentType="application/vnd.ms-powerpoint.comments+xml"/>
  <Override PartName="/ppt/comments/modernComment_103_7B2040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9" r:id="rId4"/>
    <p:sldId id="258" r:id="rId5"/>
    <p:sldId id="267" r:id="rId6"/>
    <p:sldId id="262" r:id="rId7"/>
    <p:sldId id="268" r:id="rId8"/>
    <p:sldId id="261" r:id="rId9"/>
    <p:sldId id="263" r:id="rId10"/>
    <p:sldId id="264" r:id="rId11"/>
    <p:sldId id="266" r:id="rId1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71FB4A-4553-BBA4-229A-3B8D257BDCF9}" name="Kalanit Grill-Spector" initials="KGS" userId="S::kalanit@stanford.edu::2c517a8d-c028-4a7f-85b6-100a7f1377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>
        <p:scale>
          <a:sx n="109" d="100"/>
          <a:sy n="109" d="100"/>
        </p:scale>
        <p:origin x="2040" y="-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0_F9B013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A02FD9-0E44-514A-9B6A-8FED173F0AE7}" authorId="{0571FB4A-4553-BBA4-229A-3B8D257BDCF9}" created="2025-07-09T00:59:28.0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9066137" sldId="256"/>
      <ac:spMk id="7" creationId="{BF5C0E0E-82C5-9D35-041C-5F8A30F1595A}"/>
    </ac:deMkLst>
    <p188:txBody>
      <a:bodyPr/>
      <a:lstStyle/>
      <a:p>
        <a:r>
          <a:rPr lang="en-US"/>
          <a:t>use original in the ppt this is place holder</a:t>
        </a:r>
      </a:p>
    </p188:txBody>
  </p188:cm>
</p188:cmLst>
</file>

<file path=ppt/comments/modernComment_103_7B204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2875FF-2BF9-B346-84AF-3682556FAEF0}" authorId="{0571FB4A-4553-BBA4-229A-3B8D257BDCF9}" created="2025-07-09T01:14:30.435">
    <pc:sldMkLst xmlns:pc="http://schemas.microsoft.com/office/powerpoint/2013/main/command">
      <pc:docMk/>
      <pc:sldMk cId="129106958" sldId="259"/>
    </pc:sldMkLst>
    <p188:txBody>
      <a:bodyPr/>
      <a:lstStyle/>
      <a:p>
        <a:r>
          <a:rPr lang="en-US"/>
          <a:t>place holder; refer to the file schematics for the final version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4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7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7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7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5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1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2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8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9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C9328-ABB3-4A40-AA83-6BFD97D0A15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7C7A6-1498-A740-AE9E-B225B66E0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9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F9B0139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3_7B2040E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5C0E0E-82C5-9D35-041C-5F8A30F1595A}"/>
              </a:ext>
            </a:extLst>
          </p:cNvPr>
          <p:cNvSpPr txBox="1"/>
          <p:nvPr/>
        </p:nvSpPr>
        <p:spPr>
          <a:xfrm>
            <a:off x="0" y="7924799"/>
            <a:ext cx="64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 Figure 1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D5154D9-A09D-285E-9DF1-0AD38582C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9708"/>
            <a:ext cx="6858000" cy="38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661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B33BE4-A8D5-74F2-F46B-754B80AFE0DF}"/>
              </a:ext>
            </a:extLst>
          </p:cNvPr>
          <p:cNvSpPr txBox="1"/>
          <p:nvPr/>
        </p:nvSpPr>
        <p:spPr>
          <a:xfrm>
            <a:off x="58994" y="4237701"/>
            <a:ext cx="6740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venir Book" panose="02000503020000020003" pitchFamily="2" charset="0"/>
              </a:rPr>
              <a:t>(b) Schematics of how visual angle and perceived distance may generate the moon illusion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ED990-FDCE-1793-02B5-BE16CC5D0E07}"/>
              </a:ext>
            </a:extLst>
          </p:cNvPr>
          <p:cNvSpPr txBox="1"/>
          <p:nvPr/>
        </p:nvSpPr>
        <p:spPr>
          <a:xfrm>
            <a:off x="176981" y="8573728"/>
            <a:ext cx="64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 Figure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A2FAB0-F1B1-AB19-A223-28E6C06B2BAA}"/>
              </a:ext>
            </a:extLst>
          </p:cNvPr>
          <p:cNvSpPr txBox="1"/>
          <p:nvPr/>
        </p:nvSpPr>
        <p:spPr>
          <a:xfrm>
            <a:off x="2771044" y="2734702"/>
            <a:ext cx="1603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venir Book" panose="02000503020000020003" pitchFamily="2" charset="0"/>
              </a:rPr>
              <a:t>s = size of object [m]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9A1FCB-2E29-6D47-E306-900AF8EC95FB}"/>
              </a:ext>
            </a:extLst>
          </p:cNvPr>
          <p:cNvSpPr txBox="1"/>
          <p:nvPr/>
        </p:nvSpPr>
        <p:spPr>
          <a:xfrm>
            <a:off x="2771044" y="3015223"/>
            <a:ext cx="1951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venir Book" panose="02000503020000020003" pitchFamily="2" charset="0"/>
              </a:rPr>
              <a:t>d = distance of object [m]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99E0D9-9213-EB06-B4D4-36E982ABD70A}"/>
                  </a:ext>
                </a:extLst>
              </p:cNvPr>
              <p:cNvSpPr txBox="1"/>
              <p:nvPr/>
            </p:nvSpPr>
            <p:spPr>
              <a:xfrm>
                <a:off x="2148728" y="3166608"/>
                <a:ext cx="3164514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𝑉𝐴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[°]=2∙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arctan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12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99E0D9-9213-EB06-B4D4-36E982ABD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28" y="3166608"/>
                <a:ext cx="3164514" cy="4392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3C283EA-C7BD-442B-38CA-9674F8B29B63}"/>
              </a:ext>
            </a:extLst>
          </p:cNvPr>
          <p:cNvSpPr txBox="1"/>
          <p:nvPr/>
        </p:nvSpPr>
        <p:spPr>
          <a:xfrm>
            <a:off x="796413" y="692495"/>
            <a:ext cx="55503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venir Book" panose="02000503020000020003" pitchFamily="2" charset="0"/>
              </a:rPr>
              <a:t>(a) The visual angle of an object on the retina depends on its size and distance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E802FB-B7D3-7914-9A92-4177DE493F45}"/>
              </a:ext>
            </a:extLst>
          </p:cNvPr>
          <p:cNvGrpSpPr>
            <a:grpSpLocks noChangeAspect="1"/>
          </p:cNvGrpSpPr>
          <p:nvPr/>
        </p:nvGrpSpPr>
        <p:grpSpPr>
          <a:xfrm>
            <a:off x="800836" y="1022057"/>
            <a:ext cx="5220000" cy="1876149"/>
            <a:chOff x="269893" y="1700482"/>
            <a:chExt cx="6435408" cy="231298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841CA75-365B-DA14-2740-EF49B75F45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93" y="1853467"/>
              <a:ext cx="2160000" cy="2160000"/>
            </a:xfrm>
            <a:prstGeom prst="ellipse">
              <a:avLst/>
            </a:prstGeom>
            <a:solidFill>
              <a:srgbClr val="FBE0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C5EDD4B1-8D8D-1D08-A6E7-367A8287D159}"/>
                </a:ext>
              </a:extLst>
            </p:cNvPr>
            <p:cNvSpPr/>
            <p:nvPr/>
          </p:nvSpPr>
          <p:spPr>
            <a:xfrm rot="5400000">
              <a:off x="2437076" y="818073"/>
              <a:ext cx="2160000" cy="423078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6726927-F130-82FD-89AA-4C9F8E44F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3023" y="2929526"/>
              <a:ext cx="4209448" cy="7883"/>
            </a:xfrm>
            <a:prstGeom prst="line">
              <a:avLst/>
            </a:prstGeom>
            <a:ln>
              <a:solidFill>
                <a:srgbClr val="149BD6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F2FEB1-B2E5-3B6A-FDFF-2BBBD2DA34FB}"/>
                </a:ext>
              </a:extLst>
            </p:cNvPr>
            <p:cNvCxnSpPr>
              <a:cxnSpLocks/>
            </p:cNvCxnSpPr>
            <p:nvPr/>
          </p:nvCxnSpPr>
          <p:spPr>
            <a:xfrm>
              <a:off x="4663023" y="2688539"/>
              <a:ext cx="1972800" cy="48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C04DF-0859-576A-A582-205DBC017A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25468" y="2393972"/>
              <a:ext cx="1079833" cy="10798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650CC1-DD9D-F3CD-576A-73A20FEBE1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8223" y="2688539"/>
              <a:ext cx="1692000" cy="417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C303C3A-9ED4-C919-5B04-9CCB578DFD95}"/>
                </a:ext>
              </a:extLst>
            </p:cNvPr>
            <p:cNvSpPr/>
            <p:nvPr/>
          </p:nvSpPr>
          <p:spPr>
            <a:xfrm>
              <a:off x="5627823" y="2710773"/>
              <a:ext cx="122400" cy="453600"/>
            </a:xfrm>
            <a:prstGeom prst="ellipse">
              <a:avLst/>
            </a:prstGeom>
            <a:solidFill>
              <a:srgbClr val="4EA72E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9ACC7C8-24DE-811F-FD7C-9415274CE580}"/>
                </a:ext>
              </a:extLst>
            </p:cNvPr>
            <p:cNvSpPr txBox="1"/>
            <p:nvPr/>
          </p:nvSpPr>
          <p:spPr>
            <a:xfrm>
              <a:off x="3834962" y="1700482"/>
              <a:ext cx="1552976" cy="33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Avenir Book" panose="02000503020000020003" pitchFamily="2" charset="0"/>
                </a:rPr>
                <a:t>visual angle (VA)</a:t>
              </a: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1D8355A-645B-F6AD-01D8-CF796161FF17}"/>
                </a:ext>
              </a:extLst>
            </p:cNvPr>
            <p:cNvSpPr/>
            <p:nvPr/>
          </p:nvSpPr>
          <p:spPr>
            <a:xfrm>
              <a:off x="4522384" y="2051129"/>
              <a:ext cx="180030" cy="583200"/>
            </a:xfrm>
            <a:custGeom>
              <a:avLst/>
              <a:gdLst>
                <a:gd name="connsiteX0" fmla="*/ 180030 w 180030"/>
                <a:gd name="connsiteY0" fmla="*/ 0 h 583200"/>
                <a:gd name="connsiteX1" fmla="*/ 30 w 180030"/>
                <a:gd name="connsiteY1" fmla="*/ 187200 h 583200"/>
                <a:gd name="connsiteX2" fmla="*/ 165630 w 180030"/>
                <a:gd name="connsiteY2" fmla="*/ 345600 h 583200"/>
                <a:gd name="connsiteX3" fmla="*/ 158430 w 180030"/>
                <a:gd name="connsiteY3" fmla="*/ 583200 h 58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30" h="583200">
                  <a:moveTo>
                    <a:pt x="180030" y="0"/>
                  </a:moveTo>
                  <a:cubicBezTo>
                    <a:pt x="91230" y="64800"/>
                    <a:pt x="2430" y="129600"/>
                    <a:pt x="30" y="187200"/>
                  </a:cubicBezTo>
                  <a:cubicBezTo>
                    <a:pt x="-2370" y="244800"/>
                    <a:pt x="139230" y="279600"/>
                    <a:pt x="165630" y="345600"/>
                  </a:cubicBezTo>
                  <a:cubicBezTo>
                    <a:pt x="192030" y="411600"/>
                    <a:pt x="175230" y="497400"/>
                    <a:pt x="158430" y="58320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3A91DA9-36B5-97DE-132A-4E32A4C173B3}"/>
                </a:ext>
              </a:extLst>
            </p:cNvPr>
            <p:cNvSpPr txBox="1"/>
            <p:nvPr/>
          </p:nvSpPr>
          <p:spPr>
            <a:xfrm>
              <a:off x="1049812" y="2748801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n>
                    <a:solidFill>
                      <a:srgbClr val="7030A0"/>
                    </a:solidFill>
                  </a:ln>
                </a:rPr>
                <a:t>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299E21-2F63-6AAC-2A2E-11145431B4E5}"/>
                </a:ext>
              </a:extLst>
            </p:cNvPr>
            <p:cNvSpPr txBox="1"/>
            <p:nvPr/>
          </p:nvSpPr>
          <p:spPr>
            <a:xfrm>
              <a:off x="3130623" y="263277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n>
                    <a:solidFill>
                      <a:srgbClr val="149BD6"/>
                    </a:solidFill>
                  </a:ln>
                  <a:solidFill>
                    <a:srgbClr val="149BD6"/>
                  </a:solidFill>
                </a:rPr>
                <a:t>d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B2D84A-E9AE-CF9F-72DC-1178EF96E1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5272" y="1850767"/>
              <a:ext cx="0" cy="2160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B58779-F43B-DE9B-DCA6-94F8211BE582}"/>
                </a:ext>
              </a:extLst>
            </p:cNvPr>
            <p:cNvSpPr/>
            <p:nvPr/>
          </p:nvSpPr>
          <p:spPr>
            <a:xfrm>
              <a:off x="5617250" y="2846420"/>
              <a:ext cx="88135" cy="165253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B8F9550-309E-FB18-590C-75CFB04D2A4D}"/>
                </a:ext>
              </a:extLst>
            </p:cNvPr>
            <p:cNvSpPr/>
            <p:nvPr/>
          </p:nvSpPr>
          <p:spPr>
            <a:xfrm>
              <a:off x="6629399" y="2710543"/>
              <a:ext cx="72137" cy="486789"/>
            </a:xfrm>
            <a:custGeom>
              <a:avLst/>
              <a:gdLst>
                <a:gd name="connsiteX0" fmla="*/ 0 w 272579"/>
                <a:gd name="connsiteY0" fmla="*/ 0 h 650513"/>
                <a:gd name="connsiteX1" fmla="*/ 184107 w 272579"/>
                <a:gd name="connsiteY1" fmla="*/ 92054 h 650513"/>
                <a:gd name="connsiteX2" fmla="*/ 270024 w 272579"/>
                <a:gd name="connsiteY2" fmla="*/ 294572 h 650513"/>
                <a:gd name="connsiteX3" fmla="*/ 233202 w 272579"/>
                <a:gd name="connsiteY3" fmla="*/ 497090 h 650513"/>
                <a:gd name="connsiteX4" fmla="*/ 67506 w 272579"/>
                <a:gd name="connsiteY4" fmla="*/ 650513 h 65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2579" h="650513">
                  <a:moveTo>
                    <a:pt x="0" y="0"/>
                  </a:moveTo>
                  <a:cubicBezTo>
                    <a:pt x="69551" y="21479"/>
                    <a:pt x="139103" y="42959"/>
                    <a:pt x="184107" y="92054"/>
                  </a:cubicBezTo>
                  <a:cubicBezTo>
                    <a:pt x="229111" y="141149"/>
                    <a:pt x="261842" y="227066"/>
                    <a:pt x="270024" y="294572"/>
                  </a:cubicBezTo>
                  <a:cubicBezTo>
                    <a:pt x="278206" y="362078"/>
                    <a:pt x="266955" y="437767"/>
                    <a:pt x="233202" y="497090"/>
                  </a:cubicBezTo>
                  <a:cubicBezTo>
                    <a:pt x="199449" y="556414"/>
                    <a:pt x="133477" y="603463"/>
                    <a:pt x="67506" y="650513"/>
                  </a:cubicBezTo>
                </a:path>
              </a:pathLst>
            </a:custGeom>
            <a:noFill/>
            <a:ln w="101600">
              <a:solidFill>
                <a:srgbClr val="FF0000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173329C-1F1F-A14F-964B-3D1E7E0DAA69}"/>
                </a:ext>
              </a:extLst>
            </p:cNvPr>
            <p:cNvSpPr/>
            <p:nvPr/>
          </p:nvSpPr>
          <p:spPr>
            <a:xfrm flipH="1">
              <a:off x="4606017" y="2687411"/>
              <a:ext cx="72137" cy="486789"/>
            </a:xfrm>
            <a:custGeom>
              <a:avLst/>
              <a:gdLst>
                <a:gd name="connsiteX0" fmla="*/ 0 w 272579"/>
                <a:gd name="connsiteY0" fmla="*/ 0 h 650513"/>
                <a:gd name="connsiteX1" fmla="*/ 184107 w 272579"/>
                <a:gd name="connsiteY1" fmla="*/ 92054 h 650513"/>
                <a:gd name="connsiteX2" fmla="*/ 270024 w 272579"/>
                <a:gd name="connsiteY2" fmla="*/ 294572 h 650513"/>
                <a:gd name="connsiteX3" fmla="*/ 233202 w 272579"/>
                <a:gd name="connsiteY3" fmla="*/ 497090 h 650513"/>
                <a:gd name="connsiteX4" fmla="*/ 67506 w 272579"/>
                <a:gd name="connsiteY4" fmla="*/ 650513 h 65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2579" h="650513">
                  <a:moveTo>
                    <a:pt x="0" y="0"/>
                  </a:moveTo>
                  <a:cubicBezTo>
                    <a:pt x="69551" y="21479"/>
                    <a:pt x="139103" y="42959"/>
                    <a:pt x="184107" y="92054"/>
                  </a:cubicBezTo>
                  <a:cubicBezTo>
                    <a:pt x="229111" y="141149"/>
                    <a:pt x="261842" y="227066"/>
                    <a:pt x="270024" y="294572"/>
                  </a:cubicBezTo>
                  <a:cubicBezTo>
                    <a:pt x="278206" y="362078"/>
                    <a:pt x="266955" y="437767"/>
                    <a:pt x="233202" y="497090"/>
                  </a:cubicBezTo>
                  <a:cubicBezTo>
                    <a:pt x="199449" y="556414"/>
                    <a:pt x="133477" y="603463"/>
                    <a:pt x="67506" y="650513"/>
                  </a:cubicBezTo>
                </a:path>
              </a:pathLst>
            </a:custGeom>
            <a:noFill/>
            <a:ln w="101600">
              <a:solidFill>
                <a:srgbClr val="FF0000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person and person with a diagram of the moon&#10;&#10;AI-generated content may be incorrect.">
            <a:extLst>
              <a:ext uri="{FF2B5EF4-FFF2-40B4-BE49-F238E27FC236}">
                <a16:creationId xmlns:a16="http://schemas.microsoft.com/office/drawing/2014/main" id="{113C54D9-B29F-8C65-62EC-EB953973A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4314"/>
            <a:ext cx="6858000" cy="384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69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6FD35E-AADF-8066-5AED-4EE64217AB30}"/>
              </a:ext>
            </a:extLst>
          </p:cNvPr>
          <p:cNvSpPr txBox="1"/>
          <p:nvPr/>
        </p:nvSpPr>
        <p:spPr>
          <a:xfrm>
            <a:off x="176981" y="8573728"/>
            <a:ext cx="64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 Figure 3: quad setup see </a:t>
            </a:r>
            <a:r>
              <a:rPr lang="en-US">
                <a:latin typeface="Avenir Book" panose="02000503020000020003" pitchFamily="2" charset="0"/>
              </a:rPr>
              <a:t>landscape file</a:t>
            </a:r>
            <a:endParaRPr 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4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310A-1A70-B14C-8750-398561A1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0208E1-3EA1-4967-7B4A-8FD48ADBE8AE}"/>
              </a:ext>
            </a:extLst>
          </p:cNvPr>
          <p:cNvSpPr txBox="1"/>
          <p:nvPr/>
        </p:nvSpPr>
        <p:spPr>
          <a:xfrm>
            <a:off x="368710" y="7438102"/>
            <a:ext cx="64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 Figure 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39BD2C-2C52-89CF-73B8-222BE1D8F61B}"/>
              </a:ext>
            </a:extLst>
          </p:cNvPr>
          <p:cNvGrpSpPr>
            <a:grpSpLocks noChangeAspect="1"/>
          </p:cNvGrpSpPr>
          <p:nvPr/>
        </p:nvGrpSpPr>
        <p:grpSpPr>
          <a:xfrm>
            <a:off x="235974" y="2187689"/>
            <a:ext cx="6228000" cy="4479545"/>
            <a:chOff x="0" y="1936957"/>
            <a:chExt cx="6858000" cy="4932673"/>
          </a:xfrm>
        </p:grpSpPr>
        <p:pic>
          <p:nvPicPr>
            <p:cNvPr id="5" name="Picture 4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83F1051D-A47D-EF94-E564-E31970C35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9462"/>
            <a:stretch>
              <a:fillRect/>
            </a:stretch>
          </p:blipFill>
          <p:spPr>
            <a:xfrm>
              <a:off x="0" y="2067891"/>
              <a:ext cx="3465871" cy="4801739"/>
            </a:xfrm>
            <a:prstGeom prst="rect">
              <a:avLst/>
            </a:prstGeom>
          </p:spPr>
        </p:pic>
        <p:pic>
          <p:nvPicPr>
            <p:cNvPr id="6" name="Picture 5" descr="A graph of different colors and numbers&#10;&#10;AI-generated content may be incorrect.">
              <a:extLst>
                <a:ext uri="{FF2B5EF4-FFF2-40B4-BE49-F238E27FC236}">
                  <a16:creationId xmlns:a16="http://schemas.microsoft.com/office/drawing/2014/main" id="{D9FBD9B8-0B35-A47B-B92F-971235A5D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0108"/>
            <a:stretch>
              <a:fillRect/>
            </a:stretch>
          </p:blipFill>
          <p:spPr>
            <a:xfrm>
              <a:off x="3436374" y="2067891"/>
              <a:ext cx="3421626" cy="4801739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A6D7292-511B-BF6A-ABB8-1A1ACFC1EADE}"/>
                </a:ext>
              </a:extLst>
            </p:cNvPr>
            <p:cNvSpPr txBox="1"/>
            <p:nvPr/>
          </p:nvSpPr>
          <p:spPr>
            <a:xfrm>
              <a:off x="5" y="1991032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venir Book" panose="02000503020000020003" pitchFamily="2" charset="0"/>
                </a:rPr>
                <a:t>(a)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246E8AE-5121-0851-9159-AD060FD63F13}"/>
                </a:ext>
              </a:extLst>
            </p:cNvPr>
            <p:cNvSpPr txBox="1"/>
            <p:nvPr/>
          </p:nvSpPr>
          <p:spPr>
            <a:xfrm>
              <a:off x="3338056" y="1936957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venir Book" panose="02000503020000020003" pitchFamily="2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733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B8B8-6721-57AE-47DD-D91DFCB23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</a:t>
            </a:r>
            <a:r>
              <a:rPr lang="en-US" dirty="0"/>
              <a:t>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B17A-1FC9-B13B-E9BA-740474DFE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2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972738E2-9DBE-53A6-9A5C-3AF3418EE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3" y="35163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9D031A-FB63-62E0-2A9A-AC53AFE13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125494"/>
              </p:ext>
            </p:extLst>
          </p:nvPr>
        </p:nvGraphicFramePr>
        <p:xfrm>
          <a:off x="806655" y="1153651"/>
          <a:ext cx="5156199" cy="314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7675">
                  <a:extLst>
                    <a:ext uri="{9D8B030D-6E8A-4147-A177-3AD203B41FA5}">
                      <a16:colId xmlns:a16="http://schemas.microsoft.com/office/drawing/2014/main" val="3237332420"/>
                    </a:ext>
                  </a:extLst>
                </a:gridCol>
                <a:gridCol w="926529">
                  <a:extLst>
                    <a:ext uri="{9D8B030D-6E8A-4147-A177-3AD203B41FA5}">
                      <a16:colId xmlns:a16="http://schemas.microsoft.com/office/drawing/2014/main" val="863581550"/>
                    </a:ext>
                  </a:extLst>
                </a:gridCol>
                <a:gridCol w="926529">
                  <a:extLst>
                    <a:ext uri="{9D8B030D-6E8A-4147-A177-3AD203B41FA5}">
                      <a16:colId xmlns:a16="http://schemas.microsoft.com/office/drawing/2014/main" val="2447491554"/>
                    </a:ext>
                  </a:extLst>
                </a:gridCol>
                <a:gridCol w="1475466">
                  <a:extLst>
                    <a:ext uri="{9D8B030D-6E8A-4147-A177-3AD203B41FA5}">
                      <a16:colId xmlns:a16="http://schemas.microsoft.com/office/drawing/2014/main" val="4263205270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Avenir Book" panose="02000503020000020003" pitchFamily="2" charset="0"/>
                        </a:rPr>
                        <a:t>Supplementary Table 1: Ground Truth Information for the Stanford Moon Study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0808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Object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Diameter [km]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Distance [km</a:t>
                      </a:r>
                      <a:r>
                        <a:rPr lang="en-US" sz="1000" b="1" u="none" strike="noStrike" dirty="0">
                          <a:effectLst/>
                        </a:rPr>
                        <a:t>]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Avenir Book" panose="02000503020000020003" pitchFamily="2" charset="0"/>
                        </a:rPr>
                        <a:t>Visual angle [degrees]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8853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Full moon May 22, 2024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395236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Avenir Book" panose="02000503020000020003" pitchFamily="2" charset="0"/>
                        </a:rPr>
                        <a:t>0.5039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0667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Full moon July 20, 2024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374538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0.5317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3271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Full moon July 21, 2024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370233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Avenir Book" panose="02000503020000020003" pitchFamily="2" charset="0"/>
                        </a:rPr>
                        <a:t>0.5379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23394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Full moon August 19, 2024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363081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0.5485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821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Full moon August 20, 2024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360804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0.5520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25666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October 16, 2024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357488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0.5571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1358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October 17, 2024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357252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0.5575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7484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November 15, 2024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361929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0.5503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1454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January 12,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379147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0.5253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956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January 13,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376953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0.5283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5352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May 13,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396615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0.5021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1720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Full moon August 7,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390502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Avenir Book" panose="02000503020000020003" pitchFamily="2" charset="0"/>
                        </a:rPr>
                        <a:t>0.5100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6746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Full moon August 9, 2025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379992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Avenir Book" panose="02000503020000020003" pitchFamily="2" charset="0"/>
                        </a:rPr>
                        <a:t>0.5241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venir Book" panose="02000503020000020003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69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92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28E1-D864-D55D-CD3E-3DAB06B7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B1E634-AB14-F5F7-FB4D-1F69B5A52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803459"/>
              </p:ext>
            </p:extLst>
          </p:nvPr>
        </p:nvGraphicFramePr>
        <p:xfrm>
          <a:off x="1029970" y="1352623"/>
          <a:ext cx="4076602" cy="7360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8801">
                  <a:extLst>
                    <a:ext uri="{9D8B030D-6E8A-4147-A177-3AD203B41FA5}">
                      <a16:colId xmlns:a16="http://schemas.microsoft.com/office/drawing/2014/main" val="3624866538"/>
                    </a:ext>
                  </a:extLst>
                </a:gridCol>
                <a:gridCol w="921337">
                  <a:extLst>
                    <a:ext uri="{9D8B030D-6E8A-4147-A177-3AD203B41FA5}">
                      <a16:colId xmlns:a16="http://schemas.microsoft.com/office/drawing/2014/main" val="3150171923"/>
                    </a:ext>
                  </a:extLst>
                </a:gridCol>
                <a:gridCol w="795127">
                  <a:extLst>
                    <a:ext uri="{9D8B030D-6E8A-4147-A177-3AD203B41FA5}">
                      <a16:colId xmlns:a16="http://schemas.microsoft.com/office/drawing/2014/main" val="2284379180"/>
                    </a:ext>
                  </a:extLst>
                </a:gridCol>
                <a:gridCol w="921337">
                  <a:extLst>
                    <a:ext uri="{9D8B030D-6E8A-4147-A177-3AD203B41FA5}">
                      <a16:colId xmlns:a16="http://schemas.microsoft.com/office/drawing/2014/main" val="1703851567"/>
                    </a:ext>
                  </a:extLst>
                </a:gridCol>
              </a:tblGrid>
              <a:tr h="251829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Supplementary Table 2: Ground Truth Information for the Stanford Quad Study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301279"/>
                  </a:ext>
                </a:extLst>
              </a:tr>
              <a:tr h="128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98171"/>
                  </a:ext>
                </a:extLst>
              </a:tr>
              <a:tr h="2599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Object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Diameter/</a:t>
                      </a:r>
                      <a:b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Height [m]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Distance</a:t>
                      </a:r>
                      <a:b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[m]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Visual angle</a:t>
                      </a:r>
                      <a:b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[degrees]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218951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Version 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29472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1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62.80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0.3710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02170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20.20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1.1530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666489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0.4630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137884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0.6810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94992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1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62.80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2.3634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785239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20.20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7.3386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435732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2.9522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74183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4.3371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880996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284454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Version 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20330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1a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66.70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0.3491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65721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2a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22.50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1.0349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33434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3a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48.90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0.4762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3683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4a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32.30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0.7209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57932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Inflatable moon ball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60.60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02494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Inflatable moon ball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1.5149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16213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Inflatable moon ball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47.20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0.6676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967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Inflatable moon ball 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32.70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0.9637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358019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995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Version 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165989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Spike ball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0.2674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15.20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47017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16.90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1.3777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79603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0.7814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276112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bulb 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61.10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0.3811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471861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5b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2.8956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7.1480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722477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2.8956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61.10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2.7148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4696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2.8956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107.00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1.5504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29485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2.8956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151.00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1.0987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784046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9a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2.8956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151.89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1.0923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92590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973947"/>
                  </a:ext>
                </a:extLst>
              </a:tr>
              <a:tr h="251790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 one participant was run on lamp bulbs 1a-4a and lamp posts 1a-4a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551877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1a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66.70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2.2252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272538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2a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22.50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6.5901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015649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3a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48.90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3.0349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976365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Lamp post 4a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2.5908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32.30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4.5933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87500"/>
                  </a:ext>
                </a:extLst>
              </a:tr>
              <a:tr h="1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47" marR="6047" marT="604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845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30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0DB770-4BEC-272E-0A43-09521708A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02748"/>
            <a:ext cx="6858000" cy="6214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243A4F-49D7-F5A6-C6B3-26F776DBA0ED}"/>
              </a:ext>
            </a:extLst>
          </p:cNvPr>
          <p:cNvSpPr txBox="1"/>
          <p:nvPr/>
        </p:nvSpPr>
        <p:spPr>
          <a:xfrm>
            <a:off x="0" y="29497"/>
            <a:ext cx="7152968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 Table 2: Experiment 1 LMMs</a:t>
            </a:r>
          </a:p>
        </p:txBody>
      </p:sp>
    </p:spTree>
    <p:extLst>
      <p:ext uri="{BB962C8B-B14F-4D97-AF65-F5344CB8AC3E}">
        <p14:creationId xmlns:p14="http://schemas.microsoft.com/office/powerpoint/2010/main" val="363723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0C666-306A-CA24-BF1B-BFFABD7CC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6427"/>
            <a:ext cx="6858000" cy="631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0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854388-5A88-5287-E232-18234F590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709"/>
            <a:ext cx="6858000" cy="6368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6203A3-9518-F058-0E3B-DA1DBAEF8AAA}"/>
              </a:ext>
            </a:extLst>
          </p:cNvPr>
          <p:cNvSpPr txBox="1"/>
          <p:nvPr/>
        </p:nvSpPr>
        <p:spPr>
          <a:xfrm>
            <a:off x="0" y="29497"/>
            <a:ext cx="7152968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Supplementary Table 3: Experiment 2 LMMs</a:t>
            </a:r>
          </a:p>
        </p:txBody>
      </p:sp>
    </p:spTree>
    <p:extLst>
      <p:ext uri="{BB962C8B-B14F-4D97-AF65-F5344CB8AC3E}">
        <p14:creationId xmlns:p14="http://schemas.microsoft.com/office/powerpoint/2010/main" val="610022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29EB1D-576D-94F4-B524-ED63FFC5C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219"/>
            <a:ext cx="6858000" cy="671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3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2103</TotalTime>
  <Words>489</Words>
  <Application>Microsoft Macintosh PowerPoint</Application>
  <PresentationFormat>Letter Paper (8.5x11 in)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 Book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Supplementary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Kalanit Grill-Spector</dc:creator>
  <cp:lastModifiedBy>Kalanit Grill-Spector</cp:lastModifiedBy>
  <cp:revision>35</cp:revision>
  <dcterms:created xsi:type="dcterms:W3CDTF">2025-07-09T00:55:59Z</dcterms:created>
  <dcterms:modified xsi:type="dcterms:W3CDTF">2025-08-29T19:20:39Z</dcterms:modified>
</cp:coreProperties>
</file>