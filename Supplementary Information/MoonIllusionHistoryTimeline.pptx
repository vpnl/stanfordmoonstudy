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6858000" cx="12192000"/>
  <p:notesSz cx="6858000" cy="9144000"/>
  <p:embeddedFontLst>
    <p:embeddedFont>
      <p:font typeface="Play"/>
      <p:regular r:id="rId6"/>
      <p:bold r:id="rId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 roundtripDataSignature="AMtx7mjaIXTdcmkLmPiz6EEQkzsoefB/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1"/>
          <p:cNvSpPr/>
          <p:nvPr>
            <p:ph idx="2" type="pic"/>
          </p:nvPr>
        </p:nvSpPr>
        <p:spPr>
          <a:xfrm>
            <a:off x="5183188" y="987425"/>
            <a:ext cx="6172200" cy="4873625"/>
          </a:xfrm>
          <a:prstGeom prst="rect">
            <a:avLst/>
          </a:prstGeom>
          <a:noFill/>
          <a:ln>
            <a:noFill/>
          </a:ln>
        </p:spPr>
      </p:sp>
      <p:sp>
        <p:nvSpPr>
          <p:cNvPr id="68" name="Google Shape;68;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a:off x="2383971" y="636737"/>
            <a:ext cx="9704195" cy="1360713"/>
          </a:xfrm>
          <a:prstGeom prst="rect">
            <a:avLst/>
          </a:prstGeom>
          <a:solidFill>
            <a:srgbClr val="C6FFEB">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
          <p:cNvSpPr txBox="1"/>
          <p:nvPr/>
        </p:nvSpPr>
        <p:spPr>
          <a:xfrm>
            <a:off x="126609" y="42203"/>
            <a:ext cx="1219199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Arial"/>
                <a:ea typeface="Arial"/>
                <a:cs typeface="Arial"/>
                <a:sym typeface="Arial"/>
              </a:rPr>
              <a:t>The HISTORY OF THE MOON ILLUSION </a:t>
            </a:r>
            <a:endParaRPr/>
          </a:p>
        </p:txBody>
      </p:sp>
      <p:pic>
        <p:nvPicPr>
          <p:cNvPr descr="A close-up of a line&#10;&#10;AI-generated content may be incorrect." id="91" name="Google Shape;91;p1"/>
          <p:cNvPicPr preferRelativeResize="0"/>
          <p:nvPr/>
        </p:nvPicPr>
        <p:blipFill rotWithShape="1">
          <a:blip r:embed="rId3">
            <a:alphaModFix/>
          </a:blip>
          <a:srcRect b="56170" l="0" r="0" t="36910"/>
          <a:stretch/>
        </p:blipFill>
        <p:spPr>
          <a:xfrm>
            <a:off x="118600" y="1126593"/>
            <a:ext cx="11880000" cy="648842"/>
          </a:xfrm>
          <a:prstGeom prst="rect">
            <a:avLst/>
          </a:prstGeom>
          <a:noFill/>
          <a:ln>
            <a:noFill/>
          </a:ln>
        </p:spPr>
      </p:pic>
      <p:sp>
        <p:nvSpPr>
          <p:cNvPr id="92" name="Google Shape;92;p1"/>
          <p:cNvSpPr txBox="1"/>
          <p:nvPr/>
        </p:nvSpPr>
        <p:spPr>
          <a:xfrm>
            <a:off x="163286" y="1012295"/>
            <a:ext cx="1270861"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c. 384-322 BC</a:t>
            </a:r>
            <a:endParaRPr/>
          </a:p>
        </p:txBody>
      </p:sp>
      <p:sp>
        <p:nvSpPr>
          <p:cNvPr id="93" name="Google Shape;93;p1"/>
          <p:cNvSpPr txBox="1"/>
          <p:nvPr/>
        </p:nvSpPr>
        <p:spPr>
          <a:xfrm>
            <a:off x="1446922" y="1012295"/>
            <a:ext cx="94955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c.100-170</a:t>
            </a:r>
            <a:endParaRPr/>
          </a:p>
        </p:txBody>
      </p:sp>
      <p:sp>
        <p:nvSpPr>
          <p:cNvPr id="94" name="Google Shape;94;p1"/>
          <p:cNvSpPr txBox="1"/>
          <p:nvPr/>
        </p:nvSpPr>
        <p:spPr>
          <a:xfrm>
            <a:off x="2398366" y="1023181"/>
            <a:ext cx="108260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c. 995-1040</a:t>
            </a:r>
            <a:endParaRPr/>
          </a:p>
        </p:txBody>
      </p:sp>
      <p:sp>
        <p:nvSpPr>
          <p:cNvPr id="95" name="Google Shape;95;p1"/>
          <p:cNvSpPr txBox="1"/>
          <p:nvPr/>
        </p:nvSpPr>
        <p:spPr>
          <a:xfrm>
            <a:off x="3704922" y="1023181"/>
            <a:ext cx="56938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1604</a:t>
            </a:r>
            <a:endParaRPr/>
          </a:p>
        </p:txBody>
      </p:sp>
      <p:sp>
        <p:nvSpPr>
          <p:cNvPr id="96" name="Google Shape;96;p1"/>
          <p:cNvSpPr txBox="1"/>
          <p:nvPr/>
        </p:nvSpPr>
        <p:spPr>
          <a:xfrm>
            <a:off x="4766279" y="1023181"/>
            <a:ext cx="56938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1637</a:t>
            </a:r>
            <a:endParaRPr/>
          </a:p>
        </p:txBody>
      </p:sp>
      <p:sp>
        <p:nvSpPr>
          <p:cNvPr id="97" name="Google Shape;97;p1"/>
          <p:cNvSpPr txBox="1"/>
          <p:nvPr/>
        </p:nvSpPr>
        <p:spPr>
          <a:xfrm>
            <a:off x="5801070" y="1012295"/>
            <a:ext cx="56938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1709</a:t>
            </a:r>
            <a:endParaRPr/>
          </a:p>
        </p:txBody>
      </p:sp>
      <p:sp>
        <p:nvSpPr>
          <p:cNvPr id="98" name="Google Shape;98;p1"/>
          <p:cNvSpPr txBox="1"/>
          <p:nvPr/>
        </p:nvSpPr>
        <p:spPr>
          <a:xfrm>
            <a:off x="7516687" y="1012296"/>
            <a:ext cx="1182338"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1940-1943</a:t>
            </a:r>
            <a:endParaRPr/>
          </a:p>
        </p:txBody>
      </p:sp>
      <p:sp>
        <p:nvSpPr>
          <p:cNvPr id="99" name="Google Shape;99;p1"/>
          <p:cNvSpPr txBox="1"/>
          <p:nvPr/>
        </p:nvSpPr>
        <p:spPr>
          <a:xfrm>
            <a:off x="8736445" y="1001409"/>
            <a:ext cx="908298"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1962</a:t>
            </a:r>
            <a:endParaRPr/>
          </a:p>
        </p:txBody>
      </p:sp>
      <p:sp>
        <p:nvSpPr>
          <p:cNvPr id="100" name="Google Shape;100;p1"/>
          <p:cNvSpPr txBox="1"/>
          <p:nvPr/>
        </p:nvSpPr>
        <p:spPr>
          <a:xfrm>
            <a:off x="9961868" y="1001410"/>
            <a:ext cx="56938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1975</a:t>
            </a:r>
            <a:endParaRPr/>
          </a:p>
        </p:txBody>
      </p:sp>
      <p:sp>
        <p:nvSpPr>
          <p:cNvPr id="101" name="Google Shape;101;p1"/>
          <p:cNvSpPr txBox="1"/>
          <p:nvPr/>
        </p:nvSpPr>
        <p:spPr>
          <a:xfrm>
            <a:off x="11045852" y="1001410"/>
            <a:ext cx="56938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1989</a:t>
            </a:r>
            <a:endParaRPr/>
          </a:p>
        </p:txBody>
      </p:sp>
      <p:sp>
        <p:nvSpPr>
          <p:cNvPr id="102" name="Google Shape;102;p1"/>
          <p:cNvSpPr txBox="1"/>
          <p:nvPr/>
        </p:nvSpPr>
        <p:spPr>
          <a:xfrm>
            <a:off x="138332" y="2004997"/>
            <a:ext cx="1077685" cy="2169825"/>
          </a:xfrm>
          <a:prstGeom prst="rect">
            <a:avLst/>
          </a:prstGeom>
          <a:solidFill>
            <a:srgbClr val="EEF1FE"/>
          </a:solid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333333"/>
              </a:buClr>
              <a:buSzPts val="900"/>
              <a:buFont typeface="Avenir"/>
              <a:buNone/>
            </a:pPr>
            <a:r>
              <a:rPr b="1" lang="en-US" sz="900">
                <a:solidFill>
                  <a:srgbClr val="333333"/>
                </a:solidFill>
                <a:latin typeface="Avenir"/>
                <a:ea typeface="Avenir"/>
                <a:cs typeface="Avenir"/>
                <a:sym typeface="Avenir"/>
              </a:rPr>
              <a:t>Atmospheric Refraction</a:t>
            </a:r>
            <a:endParaRPr/>
          </a:p>
          <a:p>
            <a:pPr indent="0" lvl="0" marL="0" marR="0" rtl="0" algn="l">
              <a:spcBef>
                <a:spcPts val="0"/>
              </a:spcBef>
              <a:spcAft>
                <a:spcPts val="0"/>
              </a:spcAft>
              <a:buClr>
                <a:schemeClr val="dk1"/>
              </a:buClr>
              <a:buSzPts val="900"/>
              <a:buFont typeface="Avenir"/>
              <a:buNone/>
            </a:pPr>
            <a:r>
              <a:rPr lang="en-US" sz="900">
                <a:solidFill>
                  <a:schemeClr val="dk1"/>
                </a:solidFill>
                <a:latin typeface="Avenir"/>
                <a:ea typeface="Avenir"/>
                <a:cs typeface="Avenir"/>
                <a:sym typeface="Avenir"/>
              </a:rPr>
              <a:t> </a:t>
            </a:r>
            <a:endParaRPr/>
          </a:p>
          <a:p>
            <a:pPr indent="0" lvl="0" marL="0" marR="0" rtl="0" algn="l">
              <a:spcBef>
                <a:spcPts val="0"/>
              </a:spcBef>
              <a:spcAft>
                <a:spcPts val="0"/>
              </a:spcAft>
              <a:buClr>
                <a:schemeClr val="dk1"/>
              </a:buClr>
              <a:buSzPts val="900"/>
              <a:buFont typeface="Avenir"/>
              <a:buNone/>
            </a:pPr>
            <a:r>
              <a:rPr lang="en-US" sz="900">
                <a:solidFill>
                  <a:schemeClr val="dk1"/>
                </a:solidFill>
                <a:latin typeface="Avenir"/>
                <a:ea typeface="Avenir"/>
                <a:cs typeface="Avenir"/>
                <a:sym typeface="Avenir"/>
              </a:rPr>
              <a:t>Attributes the magnification of the moon on the horizon to the refraction of light by moisture in the atmosphere</a:t>
            </a:r>
            <a:endParaRPr/>
          </a:p>
          <a:p>
            <a:pPr indent="0" lvl="0" marL="0" marR="0" rtl="0" algn="l">
              <a:spcBef>
                <a:spcPts val="0"/>
              </a:spcBef>
              <a:spcAft>
                <a:spcPts val="0"/>
              </a:spcAft>
              <a:buClr>
                <a:schemeClr val="dk1"/>
              </a:buClr>
              <a:buSzPts val="900"/>
              <a:buFont typeface="Arial"/>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This is the first</a:t>
            </a: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known scientific explanation of the moon illusion</a:t>
            </a:r>
            <a:endParaRPr sz="900">
              <a:solidFill>
                <a:srgbClr val="333333"/>
              </a:solidFill>
              <a:latin typeface="Avenir"/>
              <a:ea typeface="Avenir"/>
              <a:cs typeface="Avenir"/>
              <a:sym typeface="Avenir"/>
            </a:endParaRPr>
          </a:p>
        </p:txBody>
      </p:sp>
      <p:sp>
        <p:nvSpPr>
          <p:cNvPr id="103" name="Google Shape;103;p1"/>
          <p:cNvSpPr txBox="1"/>
          <p:nvPr/>
        </p:nvSpPr>
        <p:spPr>
          <a:xfrm>
            <a:off x="1263206" y="2004997"/>
            <a:ext cx="1034142" cy="2169825"/>
          </a:xfrm>
          <a:prstGeom prst="rect">
            <a:avLst/>
          </a:prstGeom>
          <a:solidFill>
            <a:srgbClr val="EEF1FE"/>
          </a:solid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333333"/>
              </a:buClr>
              <a:buSzPts val="900"/>
              <a:buFont typeface="Avenir"/>
              <a:buNone/>
            </a:pPr>
            <a:r>
              <a:rPr b="1" lang="en-US" sz="900">
                <a:solidFill>
                  <a:srgbClr val="333333"/>
                </a:solidFill>
                <a:latin typeface="Avenir"/>
                <a:ea typeface="Avenir"/>
                <a:cs typeface="Avenir"/>
                <a:sym typeface="Avenir"/>
              </a:rPr>
              <a:t>Atmospheric</a:t>
            </a:r>
            <a:endParaRPr/>
          </a:p>
          <a:p>
            <a:pPr indent="0" lvl="0" marL="0" marR="0" rtl="0" algn="l">
              <a:spcBef>
                <a:spcPts val="0"/>
              </a:spcBef>
              <a:spcAft>
                <a:spcPts val="0"/>
              </a:spcAft>
              <a:buClr>
                <a:srgbClr val="333333"/>
              </a:buClr>
              <a:buSzPts val="900"/>
              <a:buFont typeface="Avenir"/>
              <a:buNone/>
            </a:pPr>
            <a:r>
              <a:rPr b="1" lang="en-US" sz="900">
                <a:solidFill>
                  <a:srgbClr val="333333"/>
                </a:solidFill>
                <a:latin typeface="Avenir"/>
                <a:ea typeface="Avenir"/>
                <a:cs typeface="Avenir"/>
                <a:sym typeface="Avenir"/>
              </a:rPr>
              <a:t>Refraction </a:t>
            </a:r>
            <a:r>
              <a:rPr lang="en-US" sz="900">
                <a:solidFill>
                  <a:srgbClr val="333333"/>
                </a:solidFill>
                <a:latin typeface="Avenir"/>
                <a:ea typeface="Avenir"/>
                <a:cs typeface="Avenir"/>
                <a:sym typeface="Avenir"/>
              </a:rPr>
              <a:t>(Almagest);</a:t>
            </a:r>
            <a:endParaRPr/>
          </a:p>
          <a:p>
            <a:pPr indent="0" lvl="0" marL="0" marR="0" rtl="0" algn="l">
              <a:spcBef>
                <a:spcPts val="0"/>
              </a:spcBef>
              <a:spcAft>
                <a:spcPts val="0"/>
              </a:spcAft>
              <a:buClr>
                <a:schemeClr val="dk1"/>
              </a:buClr>
              <a:buSzPts val="900"/>
              <a:buFont typeface="Arial"/>
              <a:buNone/>
            </a:pPr>
            <a:r>
              <a:t/>
            </a:r>
            <a:endParaRPr sz="900">
              <a:solidFill>
                <a:srgbClr val="333333"/>
              </a:solidFill>
              <a:latin typeface="Avenir"/>
              <a:ea typeface="Avenir"/>
              <a:cs typeface="Avenir"/>
              <a:sym typeface="Avenir"/>
            </a:endParaRPr>
          </a:p>
          <a:p>
            <a:pPr indent="0" lvl="0" marL="0" marR="0" rtl="0" algn="l">
              <a:spcBef>
                <a:spcPts val="0"/>
              </a:spcBef>
              <a:spcAft>
                <a:spcPts val="0"/>
              </a:spcAft>
              <a:buClr>
                <a:srgbClr val="333333"/>
              </a:buClr>
              <a:buSzPts val="900"/>
              <a:buFont typeface="Avenir"/>
              <a:buNone/>
            </a:pPr>
            <a:r>
              <a:rPr b="1" lang="en-US" sz="900">
                <a:solidFill>
                  <a:srgbClr val="333333"/>
                </a:solidFill>
                <a:latin typeface="Avenir"/>
                <a:ea typeface="Avenir"/>
                <a:cs typeface="Avenir"/>
                <a:sym typeface="Avenir"/>
              </a:rPr>
              <a:t>Perceptual</a:t>
            </a:r>
            <a:r>
              <a:rPr lang="en-US" sz="900">
                <a:solidFill>
                  <a:srgbClr val="333333"/>
                </a:solidFill>
                <a:latin typeface="Avenir"/>
                <a:ea typeface="Avenir"/>
                <a:cs typeface="Avenir"/>
                <a:sym typeface="Avenir"/>
              </a:rPr>
              <a:t> (Optics) Suggested that there is a perceptual component as the moon is perceived to be further in the horizon than in zenith</a:t>
            </a:r>
            <a:endParaRPr sz="900">
              <a:solidFill>
                <a:srgbClr val="333333"/>
              </a:solidFill>
              <a:latin typeface="Avenir"/>
              <a:ea typeface="Avenir"/>
              <a:cs typeface="Avenir"/>
              <a:sym typeface="Avenir"/>
            </a:endParaRPr>
          </a:p>
        </p:txBody>
      </p:sp>
      <p:sp>
        <p:nvSpPr>
          <p:cNvPr id="104" name="Google Shape;104;p1"/>
          <p:cNvSpPr txBox="1"/>
          <p:nvPr/>
        </p:nvSpPr>
        <p:spPr>
          <a:xfrm>
            <a:off x="2358605" y="2004997"/>
            <a:ext cx="1078927" cy="2308324"/>
          </a:xfrm>
          <a:prstGeom prst="rect">
            <a:avLst/>
          </a:prstGeom>
          <a:solidFill>
            <a:srgbClr val="FBE0C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Avenir"/>
                <a:ea typeface="Avenir"/>
                <a:cs typeface="Avenir"/>
                <a:sym typeface="Avenir"/>
              </a:rPr>
              <a:t>Intervening</a:t>
            </a:r>
            <a:endParaRPr/>
          </a:p>
          <a:p>
            <a:pPr indent="0" lvl="0" marL="0" marR="0" rtl="0" algn="l">
              <a:spcBef>
                <a:spcPts val="0"/>
              </a:spcBef>
              <a:spcAft>
                <a:spcPts val="0"/>
              </a:spcAft>
              <a:buNone/>
            </a:pPr>
            <a:r>
              <a:rPr b="1" lang="en-US" sz="900">
                <a:solidFill>
                  <a:schemeClr val="dk1"/>
                </a:solidFill>
                <a:latin typeface="Avenir"/>
                <a:ea typeface="Avenir"/>
                <a:cs typeface="Avenir"/>
                <a:sym typeface="Avenir"/>
              </a:rPr>
              <a:t>Objects Theory</a:t>
            </a:r>
            <a:endParaRPr/>
          </a:p>
          <a:p>
            <a:pPr indent="0" lvl="0" marL="0" marR="0" rtl="0" algn="l">
              <a:spcBef>
                <a:spcPts val="0"/>
              </a:spcBef>
              <a:spcAft>
                <a:spcPts val="0"/>
              </a:spcAft>
              <a:buClr>
                <a:schemeClr val="dk1"/>
              </a:buClr>
              <a:buSzPts val="900"/>
              <a:buFont typeface="Arial"/>
              <a:buNone/>
            </a:pPr>
            <a:r>
              <a:t/>
            </a:r>
            <a:endParaRPr sz="900">
              <a:solidFill>
                <a:srgbClr val="333333"/>
              </a:solidFill>
              <a:latin typeface="Avenir"/>
              <a:ea typeface="Avenir"/>
              <a:cs typeface="Avenir"/>
              <a:sym typeface="Avenir"/>
            </a:endParaRPr>
          </a:p>
          <a:p>
            <a:pPr indent="0" lvl="0" marL="0" marR="0" rtl="0" algn="l">
              <a:spcBef>
                <a:spcPts val="0"/>
              </a:spcBef>
              <a:spcAft>
                <a:spcPts val="0"/>
              </a:spcAft>
              <a:buClr>
                <a:srgbClr val="333333"/>
              </a:buClr>
              <a:buSzPts val="900"/>
              <a:buFont typeface="Avenir"/>
              <a:buNone/>
            </a:pPr>
            <a:r>
              <a:rPr lang="en-US" sz="900">
                <a:solidFill>
                  <a:srgbClr val="333333"/>
                </a:solidFill>
                <a:latin typeface="Avenir"/>
                <a:ea typeface="Avenir"/>
                <a:cs typeface="Avenir"/>
                <a:sym typeface="Avenir"/>
              </a:rPr>
              <a:t>Perceptual effect that is related to distance estimation.</a:t>
            </a:r>
            <a:endParaRPr/>
          </a:p>
          <a:p>
            <a:pPr indent="0" lvl="0" marL="0" marR="0" rtl="0" algn="l">
              <a:spcBef>
                <a:spcPts val="0"/>
              </a:spcBef>
              <a:spcAft>
                <a:spcPts val="0"/>
              </a:spcAft>
              <a:buClr>
                <a:schemeClr val="dk1"/>
              </a:buClr>
              <a:buSzPts val="900"/>
              <a:buFont typeface="Arial"/>
              <a:buNone/>
            </a:pPr>
            <a:r>
              <a:t/>
            </a:r>
            <a:endParaRPr sz="900">
              <a:solidFill>
                <a:srgbClr val="333333"/>
              </a:solidFill>
              <a:latin typeface="Avenir"/>
              <a:ea typeface="Avenir"/>
              <a:cs typeface="Avenir"/>
              <a:sym typeface="Avenir"/>
            </a:endParaRPr>
          </a:p>
          <a:p>
            <a:pPr indent="0" lvl="0" marL="0" marR="0" rtl="0" algn="l">
              <a:spcBef>
                <a:spcPts val="0"/>
              </a:spcBef>
              <a:spcAft>
                <a:spcPts val="0"/>
              </a:spcAft>
              <a:buClr>
                <a:srgbClr val="333333"/>
              </a:buClr>
              <a:buSzPts val="900"/>
              <a:buFont typeface="Avenir"/>
              <a:buNone/>
            </a:pPr>
            <a:r>
              <a:rPr lang="en-US" sz="900">
                <a:solidFill>
                  <a:srgbClr val="333333"/>
                </a:solidFill>
                <a:latin typeface="Avenir"/>
                <a:ea typeface="Avenir"/>
                <a:cs typeface="Avenir"/>
                <a:sym typeface="Avenir"/>
              </a:rPr>
              <a:t>Intervening objects  (e.g. trees buildings) make the moon appear farther on the horizon than up in the vacant sky</a:t>
            </a:r>
            <a:endParaRPr/>
          </a:p>
        </p:txBody>
      </p:sp>
      <p:sp>
        <p:nvSpPr>
          <p:cNvPr id="105" name="Google Shape;105;p1"/>
          <p:cNvSpPr txBox="1"/>
          <p:nvPr/>
        </p:nvSpPr>
        <p:spPr>
          <a:xfrm>
            <a:off x="3467136" y="2004997"/>
            <a:ext cx="1121227" cy="2585323"/>
          </a:xfrm>
          <a:prstGeom prst="rect">
            <a:avLst/>
          </a:prstGeom>
          <a:solidFill>
            <a:srgbClr val="FBE0C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rgbClr val="333333"/>
                </a:solidFill>
                <a:latin typeface="Avenir"/>
                <a:ea typeface="Avenir"/>
                <a:cs typeface="Avenir"/>
                <a:sym typeface="Avenir"/>
              </a:rPr>
              <a:t>Shows that the visual angle of the moon is constant across elevations</a:t>
            </a:r>
            <a:r>
              <a:rPr lang="en-US" sz="900">
                <a:solidFill>
                  <a:srgbClr val="333333"/>
                </a:solidFill>
                <a:latin typeface="Avenir"/>
                <a:ea typeface="Avenir"/>
                <a:cs typeface="Avenir"/>
                <a:sym typeface="Avenir"/>
              </a:rPr>
              <a:t>. Thus,</a:t>
            </a:r>
            <a:r>
              <a:rPr lang="en-US" sz="900">
                <a:solidFill>
                  <a:schemeClr val="dk1"/>
                </a:solidFill>
                <a:latin typeface="Avenir"/>
                <a:ea typeface="Avenir"/>
                <a:cs typeface="Avenir"/>
                <a:sym typeface="Avenir"/>
              </a:rPr>
              <a:t> rejecting the refraction hypothesis.</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Suggests that the larger moon on the horizon is a perceptual effect that is affected by perceived  distance via</a:t>
            </a: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terrain cues.</a:t>
            </a:r>
            <a:endParaRPr/>
          </a:p>
          <a:p>
            <a:pPr indent="0" lvl="0" marL="0" marR="0" rtl="0" algn="l">
              <a:spcBef>
                <a:spcPts val="0"/>
              </a:spcBef>
              <a:spcAft>
                <a:spcPts val="0"/>
              </a:spcAft>
              <a:buClr>
                <a:schemeClr val="dk1"/>
              </a:buClr>
              <a:buSzPts val="900"/>
              <a:buFont typeface="Arial"/>
              <a:buNone/>
            </a:pPr>
            <a:r>
              <a:t/>
            </a:r>
            <a:endParaRPr sz="900">
              <a:solidFill>
                <a:srgbClr val="333333"/>
              </a:solidFill>
              <a:latin typeface="Avenir"/>
              <a:ea typeface="Avenir"/>
              <a:cs typeface="Avenir"/>
              <a:sym typeface="Avenir"/>
            </a:endParaRPr>
          </a:p>
        </p:txBody>
      </p:sp>
      <p:sp>
        <p:nvSpPr>
          <p:cNvPr id="106" name="Google Shape;106;p1"/>
          <p:cNvSpPr txBox="1"/>
          <p:nvPr/>
        </p:nvSpPr>
        <p:spPr>
          <a:xfrm>
            <a:off x="4617967" y="2004997"/>
            <a:ext cx="914395" cy="646331"/>
          </a:xfrm>
          <a:prstGeom prst="rect">
            <a:avLst/>
          </a:prstGeom>
          <a:solidFill>
            <a:srgbClr val="FBE0C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Avenir"/>
                <a:ea typeface="Avenir"/>
                <a:cs typeface="Avenir"/>
                <a:sym typeface="Avenir"/>
              </a:rPr>
              <a:t>Supports the intervening objects theory</a:t>
            </a:r>
            <a:endParaRPr b="1" sz="900">
              <a:solidFill>
                <a:srgbClr val="333333"/>
              </a:solidFill>
              <a:latin typeface="Avenir"/>
              <a:ea typeface="Avenir"/>
              <a:cs typeface="Avenir"/>
              <a:sym typeface="Avenir"/>
            </a:endParaRPr>
          </a:p>
        </p:txBody>
      </p:sp>
      <p:sp>
        <p:nvSpPr>
          <p:cNvPr id="107" name="Google Shape;107;p1"/>
          <p:cNvSpPr txBox="1"/>
          <p:nvPr/>
        </p:nvSpPr>
        <p:spPr>
          <a:xfrm>
            <a:off x="5561966" y="2004997"/>
            <a:ext cx="957941" cy="2723823"/>
          </a:xfrm>
          <a:prstGeom prst="rect">
            <a:avLst/>
          </a:prstGeom>
          <a:solidFill>
            <a:srgbClr val="EEF1FE"/>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Avenir"/>
                <a:ea typeface="Avenir"/>
                <a:cs typeface="Avenir"/>
                <a:sym typeface="Avenir"/>
              </a:rPr>
              <a:t>Moon illusion shows the unreliability of our senses &amp; why they shouldn’t be trusted</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Believed that sensory experiences are learned associations and the illusion had to do with the apparent judgement of distance</a:t>
            </a:r>
            <a:endParaRPr/>
          </a:p>
          <a:p>
            <a:pPr indent="0" lvl="0" marL="0" marR="0" rtl="0" algn="l">
              <a:spcBef>
                <a:spcPts val="0"/>
              </a:spcBef>
              <a:spcAft>
                <a:spcPts val="0"/>
              </a:spcAft>
              <a:buClr>
                <a:schemeClr val="dk1"/>
              </a:buClr>
              <a:buSzPts val="900"/>
              <a:buFont typeface="Arial"/>
              <a:buNone/>
            </a:pPr>
            <a:r>
              <a:t/>
            </a:r>
            <a:endParaRPr sz="900">
              <a:solidFill>
                <a:srgbClr val="333333"/>
              </a:solidFill>
              <a:latin typeface="Avenir"/>
              <a:ea typeface="Avenir"/>
              <a:cs typeface="Avenir"/>
              <a:sym typeface="Avenir"/>
            </a:endParaRPr>
          </a:p>
        </p:txBody>
      </p:sp>
      <p:sp>
        <p:nvSpPr>
          <p:cNvPr id="108" name="Google Shape;108;p1"/>
          <p:cNvSpPr txBox="1"/>
          <p:nvPr/>
        </p:nvSpPr>
        <p:spPr>
          <a:xfrm>
            <a:off x="0" y="6457890"/>
            <a:ext cx="429064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Avenir"/>
                <a:ea typeface="Avenir"/>
                <a:cs typeface="Avenir"/>
                <a:sym typeface="Avenir"/>
              </a:rPr>
              <a:t>*Mention of the illusion occurs in more ancient texts such as the clay tablets of Nineveh and Babylon  (Ross &amp; Plug, 2002).</a:t>
            </a:r>
            <a:endParaRPr/>
          </a:p>
        </p:txBody>
      </p:sp>
      <p:sp>
        <p:nvSpPr>
          <p:cNvPr id="109" name="Google Shape;109;p1"/>
          <p:cNvSpPr txBox="1"/>
          <p:nvPr/>
        </p:nvSpPr>
        <p:spPr>
          <a:xfrm>
            <a:off x="7405090" y="2004997"/>
            <a:ext cx="1273622" cy="4524315"/>
          </a:xfrm>
          <a:prstGeom prst="rect">
            <a:avLst/>
          </a:prstGeom>
          <a:solidFill>
            <a:srgbClr val="FDFFE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Avenir"/>
                <a:ea typeface="Avenir"/>
                <a:cs typeface="Avenir"/>
                <a:sym typeface="Avenir"/>
              </a:rPr>
              <a:t>Angle of Regard Theory</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Accepted view that the horizon moon looks closer. Thus, negated the apparent-distance theory.</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Matching experiment with templates 3.5m from observer, show that the illusion is affected by the angle of regard (gaze) and that the illusion can be inverted if the moon is projected in different angles of regard with mirrors.</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Taylor &amp; Boring also show the illusion is decreased under monocular viewing suggesting it has a binocular component</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Handful of non naïve observers</a:t>
            </a:r>
            <a:endParaRPr/>
          </a:p>
        </p:txBody>
      </p:sp>
      <p:sp>
        <p:nvSpPr>
          <p:cNvPr id="110" name="Google Shape;110;p1"/>
          <p:cNvSpPr txBox="1"/>
          <p:nvPr/>
        </p:nvSpPr>
        <p:spPr>
          <a:xfrm>
            <a:off x="8666112" y="2004997"/>
            <a:ext cx="1186540" cy="3970318"/>
          </a:xfrm>
          <a:prstGeom prst="rect">
            <a:avLst/>
          </a:prstGeom>
          <a:solidFill>
            <a:srgbClr val="FDFFE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Avenir"/>
                <a:ea typeface="Avenir"/>
                <a:cs typeface="Avenir"/>
                <a:sym typeface="Avenir"/>
              </a:rPr>
              <a:t>Apparent Distance Theory (Fig 1)</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i="1" lang="en-US" sz="900">
                <a:solidFill>
                  <a:schemeClr val="dk1"/>
                </a:solidFill>
                <a:latin typeface="Avenir"/>
                <a:ea typeface="Avenir"/>
                <a:cs typeface="Avenir"/>
                <a:sym typeface="Avenir"/>
              </a:rPr>
              <a:t>Simulated moon to test</a:t>
            </a:r>
            <a:r>
              <a:rPr lang="en-US" sz="900">
                <a:solidFill>
                  <a:schemeClr val="dk1"/>
                </a:solidFill>
                <a:latin typeface="Avenir"/>
                <a:ea typeface="Avenir"/>
                <a:cs typeface="Avenir"/>
                <a:sym typeface="Avenir"/>
              </a:rPr>
              <a:t> the </a:t>
            </a:r>
            <a:r>
              <a:rPr i="1" lang="en-US" sz="900">
                <a:solidFill>
                  <a:schemeClr val="dk1"/>
                </a:solidFill>
                <a:latin typeface="Avenir"/>
                <a:ea typeface="Avenir"/>
                <a:cs typeface="Avenir"/>
                <a:sym typeface="Avenir"/>
              </a:rPr>
              <a:t>relation between</a:t>
            </a:r>
            <a:r>
              <a:rPr lang="en-US" sz="900">
                <a:solidFill>
                  <a:schemeClr val="dk1"/>
                </a:solidFill>
                <a:latin typeface="Avenir"/>
                <a:ea typeface="Avenir"/>
                <a:cs typeface="Avenir"/>
                <a:sym typeface="Avenir"/>
              </a:rPr>
              <a:t> </a:t>
            </a:r>
            <a:r>
              <a:rPr i="1" lang="en-US" sz="900">
                <a:solidFill>
                  <a:schemeClr val="dk1"/>
                </a:solidFill>
                <a:latin typeface="Avenir"/>
                <a:ea typeface="Avenir"/>
                <a:cs typeface="Avenir"/>
                <a:sym typeface="Avenir"/>
              </a:rPr>
              <a:t>perceived size &amp; perceived distance </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Found that the illusion is affected by the terrain and adjacent objects, is not affected by eye elevation, and that the visual system registers the moon to be farther on the horizon than up in the sky.</a:t>
            </a: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 </a:t>
            </a: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Conclude that he same visual angle on the retina for a larger distance causes the moon to appear larger in the horizon. </a:t>
            </a:r>
            <a:endParaRPr/>
          </a:p>
        </p:txBody>
      </p:sp>
      <p:sp>
        <p:nvSpPr>
          <p:cNvPr id="111" name="Google Shape;111;p1"/>
          <p:cNvSpPr/>
          <p:nvPr/>
        </p:nvSpPr>
        <p:spPr>
          <a:xfrm>
            <a:off x="119747" y="636737"/>
            <a:ext cx="2187356" cy="1360713"/>
          </a:xfrm>
          <a:prstGeom prst="rect">
            <a:avLst/>
          </a:prstGeom>
          <a:solidFill>
            <a:srgbClr val="E1E1E4">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1"/>
          <p:cNvSpPr txBox="1"/>
          <p:nvPr/>
        </p:nvSpPr>
        <p:spPr>
          <a:xfrm>
            <a:off x="119746" y="712934"/>
            <a:ext cx="210469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Physical</a:t>
            </a:r>
            <a:endParaRPr/>
          </a:p>
        </p:txBody>
      </p:sp>
      <p:sp>
        <p:nvSpPr>
          <p:cNvPr id="113" name="Google Shape;113;p1"/>
          <p:cNvSpPr txBox="1"/>
          <p:nvPr/>
        </p:nvSpPr>
        <p:spPr>
          <a:xfrm>
            <a:off x="2383972" y="712934"/>
            <a:ext cx="961208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50"/>
                </a:solidFill>
                <a:latin typeface="Arial"/>
                <a:ea typeface="Arial"/>
                <a:cs typeface="Arial"/>
                <a:sym typeface="Arial"/>
              </a:rPr>
              <a:t>Perceptual</a:t>
            </a:r>
            <a:endParaRPr/>
          </a:p>
        </p:txBody>
      </p:sp>
      <p:sp>
        <p:nvSpPr>
          <p:cNvPr id="114" name="Google Shape;114;p1"/>
          <p:cNvSpPr txBox="1"/>
          <p:nvPr/>
        </p:nvSpPr>
        <p:spPr>
          <a:xfrm>
            <a:off x="10946004" y="2004997"/>
            <a:ext cx="1181661" cy="4385816"/>
          </a:xfrm>
          <a:prstGeom prst="rect">
            <a:avLst/>
          </a:prstGeom>
          <a:solidFill>
            <a:srgbClr val="FDFFE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Avenir"/>
                <a:ea typeface="Avenir"/>
                <a:cs typeface="Avenir"/>
                <a:sym typeface="Avenir"/>
              </a:rPr>
              <a:t>Zoom Lens Hypothesis</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The eyes focal power changes (accommodation)</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The environmental cues at the horizon prompt the eyes to focus at optical infinity - just as a zoom lens for distant scenes.</a:t>
            </a: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But lack of distance cues when moon is high up leads the eyes to adopt a a shorter focal length, like for near objects. </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Measured accommodation with a laser and found a correlation between perceived size of  simulated moon and  optical accommodation</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p:txBody>
      </p:sp>
      <p:sp>
        <p:nvSpPr>
          <p:cNvPr id="115" name="Google Shape;115;p1"/>
          <p:cNvSpPr txBox="1"/>
          <p:nvPr/>
        </p:nvSpPr>
        <p:spPr>
          <a:xfrm>
            <a:off x="9882256" y="2004997"/>
            <a:ext cx="1034142" cy="3970318"/>
          </a:xfrm>
          <a:prstGeom prst="rect">
            <a:avLst/>
          </a:prstGeom>
          <a:solidFill>
            <a:srgbClr val="FDFFE6"/>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dk1"/>
                </a:solidFill>
                <a:latin typeface="Avenir"/>
                <a:ea typeface="Avenir"/>
                <a:cs typeface="Avenir"/>
                <a:sym typeface="Avenir"/>
              </a:rPr>
              <a:t>Oculomotor </a:t>
            </a:r>
            <a:endParaRPr/>
          </a:p>
          <a:p>
            <a:pPr indent="0" lvl="0" marL="0" marR="0" rtl="0" algn="l">
              <a:spcBef>
                <a:spcPts val="0"/>
              </a:spcBef>
              <a:spcAft>
                <a:spcPts val="0"/>
              </a:spcAft>
              <a:buNone/>
            </a:pPr>
            <a:r>
              <a:rPr b="1" lang="en-US" sz="900">
                <a:solidFill>
                  <a:schemeClr val="dk1"/>
                </a:solidFill>
                <a:latin typeface="Avenir"/>
                <a:ea typeface="Avenir"/>
                <a:cs typeface="Avenir"/>
                <a:sym typeface="Avenir"/>
              </a:rPr>
              <a:t>Hypothesis </a:t>
            </a: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 </a:t>
            </a: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When the moon is elevated and isolated, the eyes converge on it  (like on near objects) and in the horizon, eyes diverge (like on far objects).</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a:p>
            <a:pPr indent="0" lvl="0" marL="0" marR="0" rtl="0" algn="l">
              <a:spcBef>
                <a:spcPts val="0"/>
              </a:spcBef>
              <a:spcAft>
                <a:spcPts val="0"/>
              </a:spcAft>
              <a:buNone/>
            </a:pPr>
            <a:r>
              <a:rPr lang="en-US" sz="900">
                <a:solidFill>
                  <a:schemeClr val="dk1"/>
                </a:solidFill>
                <a:latin typeface="Avenir"/>
                <a:ea typeface="Avenir"/>
                <a:cs typeface="Avenir"/>
                <a:sym typeface="Avenir"/>
              </a:rPr>
              <a:t>Showed that perceived size varies directly with the eye’s convergence-accommodation settings &amp; only secondarily, or not at all, with the elevation or its apparent distance</a:t>
            </a:r>
            <a:endParaRPr/>
          </a:p>
          <a:p>
            <a:pPr indent="0" lvl="0" marL="0" marR="0" rtl="0" algn="l">
              <a:spcBef>
                <a:spcPts val="0"/>
              </a:spcBef>
              <a:spcAft>
                <a:spcPts val="0"/>
              </a:spcAft>
              <a:buNone/>
            </a:pPr>
            <a:r>
              <a:t/>
            </a:r>
            <a:endParaRPr sz="900">
              <a:solidFill>
                <a:schemeClr val="dk1"/>
              </a:solidFill>
              <a:latin typeface="Avenir"/>
              <a:ea typeface="Avenir"/>
              <a:cs typeface="Avenir"/>
              <a:sym typeface="Avenir"/>
            </a:endParaRPr>
          </a:p>
        </p:txBody>
      </p:sp>
      <p:sp>
        <p:nvSpPr>
          <p:cNvPr id="116" name="Google Shape;116;p1"/>
          <p:cNvSpPr txBox="1"/>
          <p:nvPr/>
        </p:nvSpPr>
        <p:spPr>
          <a:xfrm>
            <a:off x="8187397" y="743712"/>
            <a:ext cx="3743346" cy="276999"/>
          </a:xfrm>
          <a:prstGeom prst="rect">
            <a:avLst/>
          </a:prstGeom>
          <a:solidFill>
            <a:srgbClr val="CCECD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venir"/>
                <a:ea typeface="Avenir"/>
                <a:cs typeface="Avenir"/>
                <a:sym typeface="Avenir"/>
              </a:rPr>
              <a:t>simulated moon</a:t>
            </a:r>
            <a:endParaRPr/>
          </a:p>
        </p:txBody>
      </p:sp>
      <p:sp>
        <p:nvSpPr>
          <p:cNvPr id="117" name="Google Shape;117;p1"/>
          <p:cNvSpPr txBox="1"/>
          <p:nvPr/>
        </p:nvSpPr>
        <p:spPr>
          <a:xfrm>
            <a:off x="6560588" y="1023182"/>
            <a:ext cx="100149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1899-1925</a:t>
            </a:r>
            <a:endParaRPr/>
          </a:p>
        </p:txBody>
      </p:sp>
      <p:sp>
        <p:nvSpPr>
          <p:cNvPr id="118" name="Google Shape;118;p1"/>
          <p:cNvSpPr txBox="1"/>
          <p:nvPr/>
        </p:nvSpPr>
        <p:spPr>
          <a:xfrm>
            <a:off x="6577647" y="2004997"/>
            <a:ext cx="765689" cy="1477328"/>
          </a:xfrm>
          <a:prstGeom prst="rect">
            <a:avLst/>
          </a:prstGeom>
          <a:solidFill>
            <a:srgbClr val="FDFFE6"/>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900"/>
              <a:buFont typeface="Avenir"/>
              <a:buNone/>
            </a:pPr>
            <a:r>
              <a:rPr b="1" lang="en-US" sz="900">
                <a:solidFill>
                  <a:schemeClr val="dk1"/>
                </a:solidFill>
                <a:latin typeface="Avenir"/>
                <a:ea typeface="Avenir"/>
                <a:cs typeface="Avenir"/>
                <a:sym typeface="Avenir"/>
              </a:rPr>
              <a:t>Observers</a:t>
            </a:r>
            <a:endParaRPr/>
          </a:p>
          <a:p>
            <a:pPr indent="0" lvl="0" marL="0" marR="0" rtl="0" algn="l">
              <a:spcBef>
                <a:spcPts val="0"/>
              </a:spcBef>
              <a:spcAft>
                <a:spcPts val="0"/>
              </a:spcAft>
              <a:buClr>
                <a:schemeClr val="dk1"/>
              </a:buClr>
              <a:buSzPts val="900"/>
              <a:buFont typeface="Avenir"/>
              <a:buNone/>
            </a:pPr>
            <a:r>
              <a:rPr b="1" lang="en-US" sz="900">
                <a:solidFill>
                  <a:schemeClr val="dk1"/>
                </a:solidFill>
                <a:latin typeface="Avenir"/>
                <a:ea typeface="Avenir"/>
                <a:cs typeface="Avenir"/>
                <a:sym typeface="Avenir"/>
              </a:rPr>
              <a:t>(116/120) self report that the horizon moon seems closer than the zenith moon.</a:t>
            </a:r>
            <a:endParaRPr/>
          </a:p>
        </p:txBody>
      </p:sp>
      <p:sp>
        <p:nvSpPr>
          <p:cNvPr id="119" name="Google Shape;119;p1"/>
          <p:cNvSpPr txBox="1"/>
          <p:nvPr/>
        </p:nvSpPr>
        <p:spPr>
          <a:xfrm>
            <a:off x="167305" y="1324794"/>
            <a:ext cx="1030347"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Aristotle</a:t>
            </a:r>
            <a:endParaRPr/>
          </a:p>
        </p:txBody>
      </p:sp>
      <p:sp>
        <p:nvSpPr>
          <p:cNvPr id="120" name="Google Shape;120;p1"/>
          <p:cNvSpPr txBox="1"/>
          <p:nvPr/>
        </p:nvSpPr>
        <p:spPr>
          <a:xfrm>
            <a:off x="1353989" y="1324794"/>
            <a:ext cx="933269"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Ptolemy</a:t>
            </a:r>
            <a:endParaRPr/>
          </a:p>
        </p:txBody>
      </p:sp>
      <p:sp>
        <p:nvSpPr>
          <p:cNvPr id="121" name="Google Shape;121;p1"/>
          <p:cNvSpPr txBox="1"/>
          <p:nvPr/>
        </p:nvSpPr>
        <p:spPr>
          <a:xfrm>
            <a:off x="2391621" y="1324794"/>
            <a:ext cx="990977"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Alhazen</a:t>
            </a:r>
            <a:endParaRPr/>
          </a:p>
        </p:txBody>
      </p:sp>
      <p:sp>
        <p:nvSpPr>
          <p:cNvPr id="122" name="Google Shape;122;p1"/>
          <p:cNvSpPr txBox="1"/>
          <p:nvPr/>
        </p:nvSpPr>
        <p:spPr>
          <a:xfrm>
            <a:off x="3597521" y="1324794"/>
            <a:ext cx="82907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Kepler</a:t>
            </a:r>
            <a:endParaRPr/>
          </a:p>
        </p:txBody>
      </p:sp>
      <p:sp>
        <p:nvSpPr>
          <p:cNvPr id="123" name="Google Shape;123;p1"/>
          <p:cNvSpPr txBox="1"/>
          <p:nvPr/>
        </p:nvSpPr>
        <p:spPr>
          <a:xfrm>
            <a:off x="4510600" y="1324794"/>
            <a:ext cx="1064009"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Descartes</a:t>
            </a:r>
            <a:endParaRPr/>
          </a:p>
        </p:txBody>
      </p:sp>
      <p:sp>
        <p:nvSpPr>
          <p:cNvPr id="124" name="Google Shape;124;p1"/>
          <p:cNvSpPr txBox="1"/>
          <p:nvPr/>
        </p:nvSpPr>
        <p:spPr>
          <a:xfrm>
            <a:off x="5614645" y="1324794"/>
            <a:ext cx="968022"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Berkeley</a:t>
            </a:r>
            <a:endParaRPr/>
          </a:p>
        </p:txBody>
      </p:sp>
      <p:sp>
        <p:nvSpPr>
          <p:cNvPr id="125" name="Google Shape;125;p1"/>
          <p:cNvSpPr txBox="1"/>
          <p:nvPr/>
        </p:nvSpPr>
        <p:spPr>
          <a:xfrm>
            <a:off x="7484010" y="1324794"/>
            <a:ext cx="1143334"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Boring </a:t>
            </a:r>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Holloway</a:t>
            </a:r>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&amp; Taylor</a:t>
            </a:r>
            <a:endParaRPr/>
          </a:p>
        </p:txBody>
      </p:sp>
      <p:sp>
        <p:nvSpPr>
          <p:cNvPr id="126" name="Google Shape;126;p1"/>
          <p:cNvSpPr txBox="1"/>
          <p:nvPr/>
        </p:nvSpPr>
        <p:spPr>
          <a:xfrm>
            <a:off x="8647796" y="1324794"/>
            <a:ext cx="112242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Kaufman</a:t>
            </a:r>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&amp; Rock</a:t>
            </a:r>
            <a:endParaRPr/>
          </a:p>
        </p:txBody>
      </p:sp>
      <p:sp>
        <p:nvSpPr>
          <p:cNvPr id="127" name="Google Shape;127;p1"/>
          <p:cNvSpPr txBox="1"/>
          <p:nvPr/>
        </p:nvSpPr>
        <p:spPr>
          <a:xfrm>
            <a:off x="9873483" y="1324794"/>
            <a:ext cx="91653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Enright</a:t>
            </a:r>
            <a:endParaRPr/>
          </a:p>
        </p:txBody>
      </p:sp>
      <p:sp>
        <p:nvSpPr>
          <p:cNvPr id="128" name="Google Shape;128;p1"/>
          <p:cNvSpPr txBox="1"/>
          <p:nvPr/>
        </p:nvSpPr>
        <p:spPr>
          <a:xfrm>
            <a:off x="10993500" y="1324794"/>
            <a:ext cx="774572"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Roscoe</a:t>
            </a:r>
            <a:endParaRPr/>
          </a:p>
        </p:txBody>
      </p:sp>
      <p:sp>
        <p:nvSpPr>
          <p:cNvPr id="129" name="Google Shape;129;p1"/>
          <p:cNvSpPr txBox="1"/>
          <p:nvPr/>
        </p:nvSpPr>
        <p:spPr>
          <a:xfrm>
            <a:off x="6622542" y="1324794"/>
            <a:ext cx="75693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Zoth</a:t>
            </a:r>
            <a:endParaRPr sz="1400">
              <a:solidFill>
                <a:schemeClr val="dk1"/>
              </a:solidFill>
              <a:latin typeface="Arial"/>
              <a:ea typeface="Arial"/>
              <a:cs typeface="Arial"/>
              <a:sym typeface="Arial"/>
            </a:endParaRPr>
          </a:p>
          <a:p>
            <a:pPr indent="0" lvl="0" marL="0" marR="0" rtl="0" algn="ctr">
              <a:spcBef>
                <a:spcPts val="0"/>
              </a:spcBef>
              <a:spcAft>
                <a:spcPts val="0"/>
              </a:spcAft>
              <a:buNone/>
            </a:pPr>
            <a:r>
              <a:rPr lang="en-US" sz="1400">
                <a:solidFill>
                  <a:schemeClr val="dk1"/>
                </a:solidFill>
                <a:latin typeface="Arial"/>
                <a:ea typeface="Arial"/>
                <a:cs typeface="Arial"/>
                <a:sym typeface="Arial"/>
              </a:rPr>
              <a:t>Schur</a:t>
            </a:r>
            <a:endParaRPr/>
          </a:p>
        </p:txBody>
      </p:sp>
      <p:sp>
        <p:nvSpPr>
          <p:cNvPr id="130" name="Google Shape;130;p1"/>
          <p:cNvSpPr txBox="1"/>
          <p:nvPr/>
        </p:nvSpPr>
        <p:spPr>
          <a:xfrm>
            <a:off x="194833" y="5175302"/>
            <a:ext cx="1335600" cy="292388"/>
          </a:xfrm>
          <a:prstGeom prst="rect">
            <a:avLst/>
          </a:prstGeom>
          <a:solidFill>
            <a:srgbClr val="EEF1FE"/>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300">
                <a:solidFill>
                  <a:schemeClr val="dk1"/>
                </a:solidFill>
                <a:latin typeface="Avenir"/>
                <a:ea typeface="Avenir"/>
                <a:cs typeface="Avenir"/>
                <a:sym typeface="Avenir"/>
              </a:rPr>
              <a:t>Reasoning </a:t>
            </a:r>
            <a:endParaRPr/>
          </a:p>
        </p:txBody>
      </p:sp>
      <p:sp>
        <p:nvSpPr>
          <p:cNvPr id="131" name="Google Shape;131;p1"/>
          <p:cNvSpPr txBox="1"/>
          <p:nvPr/>
        </p:nvSpPr>
        <p:spPr>
          <a:xfrm>
            <a:off x="194833" y="5480102"/>
            <a:ext cx="1335600" cy="292388"/>
          </a:xfrm>
          <a:prstGeom prst="rect">
            <a:avLst/>
          </a:prstGeom>
          <a:solidFill>
            <a:srgbClr val="FBE0C3"/>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300">
                <a:solidFill>
                  <a:schemeClr val="dk1"/>
                </a:solidFill>
                <a:latin typeface="Avenir"/>
                <a:ea typeface="Avenir"/>
                <a:cs typeface="Avenir"/>
                <a:sym typeface="Avenir"/>
              </a:rPr>
              <a:t>Optics</a:t>
            </a:r>
            <a:endParaRPr/>
          </a:p>
        </p:txBody>
      </p:sp>
      <p:sp>
        <p:nvSpPr>
          <p:cNvPr id="132" name="Google Shape;132;p1"/>
          <p:cNvSpPr txBox="1"/>
          <p:nvPr/>
        </p:nvSpPr>
        <p:spPr>
          <a:xfrm>
            <a:off x="193161" y="5780237"/>
            <a:ext cx="1338944" cy="292388"/>
          </a:xfrm>
          <a:prstGeom prst="rect">
            <a:avLst/>
          </a:prstGeom>
          <a:solidFill>
            <a:srgbClr val="FDFFE6"/>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300">
                <a:solidFill>
                  <a:schemeClr val="dk1"/>
                </a:solidFill>
                <a:latin typeface="Avenir"/>
                <a:ea typeface="Avenir"/>
                <a:cs typeface="Avenir"/>
                <a:sym typeface="Avenir"/>
              </a:rPr>
              <a:t>Psychophysics</a:t>
            </a:r>
            <a:endParaRPr/>
          </a:p>
        </p:txBody>
      </p:sp>
      <p:sp>
        <p:nvSpPr>
          <p:cNvPr id="133" name="Google Shape;133;p1"/>
          <p:cNvSpPr txBox="1"/>
          <p:nvPr/>
        </p:nvSpPr>
        <p:spPr>
          <a:xfrm>
            <a:off x="132472" y="4921185"/>
            <a:ext cx="1483098" cy="2923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venir"/>
                <a:ea typeface="Avenir"/>
                <a:cs typeface="Avenir"/>
                <a:sym typeface="Avenir"/>
              </a:rPr>
              <a:t>Scientific method</a:t>
            </a:r>
            <a:endParaRPr/>
          </a:p>
        </p:txBody>
      </p:sp>
      <p:sp>
        <p:nvSpPr>
          <p:cNvPr id="134" name="Google Shape;134;p1"/>
          <p:cNvSpPr/>
          <p:nvPr/>
        </p:nvSpPr>
        <p:spPr>
          <a:xfrm>
            <a:off x="74565" y="4895557"/>
            <a:ext cx="1548000" cy="1223890"/>
          </a:xfrm>
          <a:prstGeom prst="roundRect">
            <a:avLst>
              <a:gd fmla="val 16667" name="adj"/>
            </a:avLst>
          </a:prstGeom>
          <a:noFill/>
          <a:ln cap="flat" cmpd="sng" w="38100">
            <a:solidFill>
              <a:srgbClr val="EEF1FE"/>
            </a:solidFill>
            <a:prstDash val="solid"/>
            <a:miter lim="800000"/>
            <a:headEnd len="sm" w="sm" type="none"/>
            <a:tailEnd len="sm" w="sm" type="none"/>
          </a:ln>
          <a:effectLst>
            <a:outerShdw blurRad="50800" rotWithShape="0" algn="tl" dir="2700000" dist="38100">
              <a:srgbClr val="909EE6">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0">
              <a:solidFill>
                <a:schemeClr val="lt1"/>
              </a:solidFill>
              <a:latin typeface="Avenir"/>
              <a:ea typeface="Avenir"/>
              <a:cs typeface="Avenir"/>
              <a:sym typeface="Aveni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2025-07-07T04:07:00Z</dcterms:created>
  <dc:creator>Kalanit Grill-Spector</dc:creator>
</cp:coreProperties>
</file>